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01. System Context — Overview. Use this diagram to explain the actors/components, the direction of the flow, the CAP/backend control boundary, and the observable data or side effect. Canonical source asset: 01-system-context.png;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02. SAP CAP/Fiori Architecture — Overview. Use this diagram to explain the actors/components, the direction of the flow, the CAP/backend control boundary, and the observable data or side effect. Canonical source asset: 02-cap-fiori-architecture.png;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03. Use Case Diagram — Overview. Use this diagram to explain the actors/components, the direction of the flow, the CAP/backend control boundary, and the observable data or side effect. Canonical source asset: 03-use-case.png;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03. Use Case Diagram — Detail 1/3. Use this diagram to explain the actors/components, the direction of the flow, the CAP/backend control boundary, and the observable data or side effect. Canonical source asset: 03-use-case.png;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03. Use Case Diagram — Detail 2/3. Use this diagram to explain the actors/components, the direction of the flow, the CAP/backend control boundary, and the observable data or side effect. Canonical source asset: 03-use-case.png;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03. Use Case Diagram — Detail 3/3. Use this diagram to explain the actors/components, the direction of the flow, the CAP/backend control boundary, and the observable data or side effect. Canonical source asset: 03-use-case.png;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04. End-to-End Defect Tracking Flow — Overview. Use this diagram to explain the actors/components, the direction of the flow, the CAP/backend control boundary, and the observable data or side effect. Canonical source asset: 04-end-to-end-defect-flow.png;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04. End-to-End Defect Tracking Flow — Detail 1/3. Use this diagram to explain the actors/components, the direction of the flow, the CAP/backend control boundary, and the observable data or side effect. Canonical source asset: 04-end-to-end-defect-flow.png;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04. End-to-End Defect Tracking Flow — Detail 2/3. Use this diagram to explain the actors/components, the direction of the flow, the CAP/backend control boundary, and the observable data or side effect. Canonical source asset: 04-end-to-end-defect-flow.png;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04. End-to-End Defect Tracking Flow — Detail 3/3. Use this diagram to explain the actors/components, the direction of the flow, the CAP/backend control boundary, and the observable data or side effect. Canonical source asset: 04-end-to-end-defect-flow.png;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05. Duplicate Checking Flow — Overview. Use this diagram to explain the actors/components, the direction of the flow, the CAP/backend control boundary, and the observable data or side effect. Canonical source asset: 05-duplicate-checking.png;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06. Assignment Decision Flow — Overview. Use this diagram to explain the actors/components, the direction of the flow, the CAP/backend control boundary, and the observable data or side effect. Canonical source asset: 06-assignment-decision.png;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06. Assignment Decision Flow — Detail 1/3. Use this diagram to explain the actors/components, the direction of the flow, the CAP/backend control boundary, and the observable data or side effect. Canonical source asset: 06-assignment-decision.png;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06. Assignment Decision Flow — Detail 2/3. Use this diagram to explain the actors/components, the direction of the flow, the CAP/backend control boundary, and the observable data or side effect. Canonical source asset: 06-assignment-decision.png;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06. Assignment Decision Flow — Detail 3/3. Use this diagram to explain the actors/components, the direction of the flow, the CAP/backend control boundary, and the observable data or side effect. Canonical source asset: 06-assignment-decision.png;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07. Developer Review Flow — Overview. Use this diagram to explain the actors/components, the direction of the flow, the CAP/backend control boundary, and the observable data or side effect. Canonical source asset: 07-developer-review.png;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08. Bug Status Lifecycle — Overview. Use this diagram to explain the actors/components, the direction of the flow, the CAP/backend control boundary, and the observable data or side effect. Canonical source asset: 08-status-lifecycle.png;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08. Bug Status Lifecycle — Detail 1/2. Use this diagram to explain the actors/components, the direction of the flow, the CAP/backend control boundary, and the observable data or side effect. Canonical source asset: 08-status-lifecycle.png;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08. Bug Status Lifecycle — Detail 2/2. Use this diagram to explain the actors/components, the direction of the flow, the CAP/backend control boundary, and the observable data or side effect. Canonical source asset: 08-status-lifecycle.png;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09. Conceptual Data Model — Overview. Use this diagram to explain the actors/components, the direction of the flow, the CAP/backend control boundary, and the observable data or side effect. Canonical source asset: 09-conceptual-data-model.png;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09. Conceptual Data Model — Detail 1/4. Use this diagram to explain the actors/components, the direction of the flow, the CAP/backend control boundary, and the observable data or side effect. Canonical source asset: 09-conceptual-data-model.png;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09. Conceptual Data Model — Detail 2/4. Use this diagram to explain the actors/components, the direction of the flow, the CAP/backend control boundary, and the observable data or side effect. Canonical source asset: 09-conceptual-data-model.png;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09. Conceptual Data Model — Detail 3/4. Use this diagram to explain the actors/components, the direction of the flow, the CAP/backend control boundary, and the observable data or side effect. Canonical source asset: 09-conceptual-data-model.png;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09. Conceptual Data Model — Detail 4/4. Use this diagram to explain the actors/components, the direction of the flow, the CAP/backend control boundary, and the observable data or side effect. Canonical source asset: 09-conceptual-data-model.png;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10. Submit Bug and Notification Sequence — Overview. Use this diagram to explain the actors/components, the direction of the flow, the CAP/backend control boundary, and the observable data or side effect. Canonical source asset: 10-submit-notification.png;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10. Submit Bug and Notification Sequence — Detail 1/2. Use this diagram to explain the actors/components, the direction of the flow, the CAP/backend control boundary, and the observable data or side effect. Canonical source asset: 10-submit-notification.png;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10. Submit Bug and Notification Sequence — Detail 2/2. Use this diagram to explain the actors/components, the direction of the flow, the CAP/backend control boundary, and the observable data or side effect. Canonical source asset: 10-submit-notification.png;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11. Developer Review Notification Sequence — Overview. Use this diagram to explain the actors/components, the direction of the flow, the CAP/backend control boundary, and the observable data or side effect. Canonical source asset: 11-developer-review-notification.png;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11. Developer Review Notification Sequence — Detail 1/2. Use this diagram to explain the actors/components, the direction of the flow, the CAP/backend control boundary, and the observable data or side effect. Canonical source asset: 11-developer-review-notification.png;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11. Developer Review Notification Sequence — Detail 2/2. Use this diagram to explain the actors/components, the direction of the flow, the CAP/backend control boundary, and the observable data or side effect. Canonical source asset: 11-developer-review-notification.png;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12. PM Monitoring and Escalation Flow — Overview. Use this diagram to explain the actors/components, the direction of the flow, the CAP/backend control boundary, and the observable data or side effect. Canonical source asset: 12-pm-monitoring.png;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13. SRS System Context — Overview. Use this diagram to explain the actors/components, the direction of the flow, the CAP/backend control boundary, and the observable data or side effect. Canonical source asset: 13-srs-system-context.png;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14. Main Defect Tracking Flow — Overview. Use this diagram to explain the actors/components, the direction of the flow, the CAP/backend control boundary, and the observable data or side effect. Canonical source asset: 14-frs-main-defect-flow.png;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14. Main Defect Tracking Flow — Detail 1/2. Use this diagram to explain the actors/components, the direction of the flow, the CAP/backend control boundary, and the observable data or side effect. Canonical source asset: 14-frs-main-defect-flow.png;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14. Main Defect Tracking Flow — Detail 2/2. Use this diagram to explain the actors/components, the direction of the flow, the CAP/backend control boundary, and the observable data or side effect. Canonical source asset: 14-frs-main-defect-flow.png;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15. Rejected Follow-up Flow — Overview. Use this diagram to explain the actors/components, the direction of the flow, the CAP/backend control boundary, and the observable data or side effect. Canonical source asset: 15-frs-rejected-follow-up.png;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16. Status Lifecycle — Overview. Use this diagram to explain the actors/components, the direction of the flow, the CAP/backend control boundary, and the observable data or side effect. Canonical source asset: 16-frs-status-lifecycle.png;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17. Bug Creation and Assignment Activity Flow — Overview. Use this diagram to explain the actors/components, the direction of the flow, the CAP/backend control boundary, and the observable data or side effect. Canonical source asset: 17-frs-create-assignment.png;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17. Bug Creation and Assignment Activity Flow — Detail 1/2. Use this diagram to explain the actors/components, the direction of the flow, the CAP/backend control boundary, and the observable data or side effect. Canonical source asset: 17-frs-create-assignment.png;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17. Bug Creation and Assignment Activity Flow — Detail 2/2. Use this diagram to explain the actors/components, the direction of the flow, the CAP/backend control boundary, and the observable data or side effect. Canonical source asset: 17-frs-create-assignment.png;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18. Developer Review Decision Flow — Overview. Use this diagram to explain the actors/components, the direction of the flow, the CAP/backend control boundary, and the observable data or side effect. Canonical source asset: 18-frs-developer-review.png;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19. Request More Information Flow — Overview. Use this diagram to explain the actors/components, the direction of the flow, the CAP/backend control boundary, and the observable data or side effect. Canonical source asset: 19-frs-request-more-information.png;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20. Resolve, Retest, Close, and Reopen Flow — Overview. Use this diagram to explain the actors/components, the direction of the flow, the CAP/backend control boundary, and the observable data or side effect. Canonical source asset: 20-frs-resolve-retest-close-reopen.png;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20. Resolve, Retest, Close, and Reopen Flow — Detail 1/2. Use this diagram to explain the actors/components, the direction of the flow, the CAP/backend control boundary, and the observable data or side effect. Canonical source asset: 20-frs-resolve-retest-close-reopen.png;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20. Resolve, Retest, Close, and Reopen Flow — Detail 2/2. Use this diagram to explain the actors/components, the direction of the flow, the CAP/backend control boundary, and the observable data or side effect. Canonical source asset: 20-frs-resolve-retest-close-reopen.png;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 review summary: 21. PM Monitoring and Escalation Flow — Overview. Use this diagram to explain the actors/components, the direction of the flow, the CAP/backend control boundary, and the observable data or side effect. Canonical source asset: 21-frs-pm-monitoring.png; editable source and manifest are kept in docs/diagrams/rendered.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01. System Context — Overview</a:t>
            </a:r>
          </a:p>
        </p:txBody>
      </p:sp>
      <p:pic>
        <p:nvPicPr>
          <p:cNvPr id="3" name="Picture 2" descr="01-system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42" y="621792"/>
            <a:ext cx="11126011" cy="59253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01-system-context.png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02. SAP CAP/Fiori Architecture — Overview</a:t>
            </a:r>
          </a:p>
        </p:txBody>
      </p:sp>
      <p:pic>
        <p:nvPicPr>
          <p:cNvPr id="3" name="Picture 2" descr="02-cap-fiori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625" y="621792"/>
            <a:ext cx="8502445" cy="59253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02-cap-fiori-architecture.png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03. Use Case Diagram — Overview</a:t>
            </a:r>
          </a:p>
        </p:txBody>
      </p:sp>
      <p:pic>
        <p:nvPicPr>
          <p:cNvPr id="3" name="Picture 2" descr="03-use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91" y="621792"/>
            <a:ext cx="1300913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03-use-case.png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03. Use Case Diagram — Detail 1/3</a:t>
            </a:r>
          </a:p>
        </p:txBody>
      </p:sp>
      <p:pic>
        <p:nvPicPr>
          <p:cNvPr id="3" name="Picture 2" descr="03-use-case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623" y="621792"/>
            <a:ext cx="3584448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03-use-case.png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03. Use Case Diagram — Detail 2/3</a:t>
            </a:r>
          </a:p>
        </p:txBody>
      </p:sp>
      <p:pic>
        <p:nvPicPr>
          <p:cNvPr id="3" name="Picture 2" descr="03-use-case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342" y="621792"/>
            <a:ext cx="3313011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03-use-case.png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03. Use Case Diagram — Detail 3/3</a:t>
            </a:r>
          </a:p>
        </p:txBody>
      </p:sp>
      <p:pic>
        <p:nvPicPr>
          <p:cNvPr id="3" name="Picture 2" descr="03-use-case-detail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633" y="621792"/>
            <a:ext cx="3580429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03-use-case.png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04. End-to-End Defect Tracking Flow — Overview</a:t>
            </a:r>
          </a:p>
        </p:txBody>
      </p:sp>
      <p:pic>
        <p:nvPicPr>
          <p:cNvPr id="3" name="Picture 2" descr="04-end-to-end-defec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441" y="621792"/>
            <a:ext cx="5468812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04-end-to-end-defect-flow.png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04. End-to-End Defect Tracking Flow — Detail 1/3</a:t>
            </a:r>
          </a:p>
        </p:txBody>
      </p:sp>
      <p:pic>
        <p:nvPicPr>
          <p:cNvPr id="3" name="Picture 2" descr="04-end-to-end-defect-flow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301126"/>
            <a:ext cx="11606479" cy="45666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04-end-to-end-defect-flow.png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04. End-to-End Defect Tracking Flow — Detail 2/3</a:t>
            </a:r>
          </a:p>
        </p:txBody>
      </p:sp>
      <p:pic>
        <p:nvPicPr>
          <p:cNvPr id="3" name="Picture 2" descr="04-end-to-end-defect-flow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13690"/>
            <a:ext cx="11606479" cy="49415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04-end-to-end-defect-flow.png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04. End-to-End Defect Tracking Flow — Detail 3/3</a:t>
            </a:r>
          </a:p>
        </p:txBody>
      </p:sp>
      <p:pic>
        <p:nvPicPr>
          <p:cNvPr id="3" name="Picture 2" descr="04-end-to-end-defect-flow-detail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301126"/>
            <a:ext cx="11606479" cy="45666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04-end-to-end-defect-flow.png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05. Duplicate Checking Flow — Overview</a:t>
            </a:r>
          </a:p>
        </p:txBody>
      </p:sp>
      <p:pic>
        <p:nvPicPr>
          <p:cNvPr id="3" name="Picture 2" descr="05-duplicate-che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199" y="621792"/>
            <a:ext cx="6967296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05-duplicate-checking.png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06. Assignment Decision Flow — Overview</a:t>
            </a:r>
          </a:p>
        </p:txBody>
      </p:sp>
      <p:pic>
        <p:nvPicPr>
          <p:cNvPr id="3" name="Picture 2" descr="06-assignment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879" y="621792"/>
            <a:ext cx="1899936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06-assignment-decision.png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06. Assignment Decision Flow — Detail 1/3</a:t>
            </a:r>
          </a:p>
        </p:txBody>
      </p:sp>
      <p:pic>
        <p:nvPicPr>
          <p:cNvPr id="3" name="Picture 2" descr="06-assignment-decision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430" y="621792"/>
            <a:ext cx="5232835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06-assignment-decision.png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06. Assignment Decision Flow — Detail 2/3</a:t>
            </a:r>
          </a:p>
        </p:txBody>
      </p:sp>
      <p:pic>
        <p:nvPicPr>
          <p:cNvPr id="3" name="Picture 2" descr="06-assignment-decision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555" y="621792"/>
            <a:ext cx="4836585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06-assignment-decision.png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06. Assignment Decision Flow — Detail 3/3</a:t>
            </a:r>
          </a:p>
        </p:txBody>
      </p:sp>
      <p:pic>
        <p:nvPicPr>
          <p:cNvPr id="3" name="Picture 2" descr="06-assignment-decision-detail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430" y="621792"/>
            <a:ext cx="5232835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06-assignment-decision.png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07. Developer Review Flow — Overview</a:t>
            </a:r>
          </a:p>
        </p:txBody>
      </p:sp>
      <p:pic>
        <p:nvPicPr>
          <p:cNvPr id="3" name="Picture 2" descr="07-develope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923" y="621792"/>
            <a:ext cx="4535849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07-developer-review.png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08. Bug Status Lifecycle — Overview</a:t>
            </a:r>
          </a:p>
        </p:txBody>
      </p:sp>
      <p:pic>
        <p:nvPicPr>
          <p:cNvPr id="3" name="Picture 2" descr="08-status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371720"/>
            <a:ext cx="11606479" cy="4425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08-status-lifecycle.png |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08. Bug Status Lifecycle — Detail 1/2</a:t>
            </a:r>
          </a:p>
        </p:txBody>
      </p:sp>
      <p:pic>
        <p:nvPicPr>
          <p:cNvPr id="3" name="Picture 2" descr="08-status-lifecycle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13576"/>
            <a:ext cx="11606479" cy="23417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08-status-lifecycle.png |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08. Bug Status Lifecycle — Detail 2/2</a:t>
            </a:r>
          </a:p>
        </p:txBody>
      </p:sp>
      <p:pic>
        <p:nvPicPr>
          <p:cNvPr id="3" name="Picture 2" descr="08-status-lifecycle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411142"/>
            <a:ext cx="11606479" cy="23466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08-status-lifecycle.png |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09. Conceptual Data Model — Overview</a:t>
            </a:r>
          </a:p>
        </p:txBody>
      </p:sp>
      <p:pic>
        <p:nvPicPr>
          <p:cNvPr id="3" name="Picture 2" descr="09-conceptual-data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244" y="621792"/>
            <a:ext cx="6209206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09-conceptual-data-model.png |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09. Conceptual Data Model — Detail 1/4</a:t>
            </a:r>
          </a:p>
        </p:txBody>
      </p:sp>
      <p:pic>
        <p:nvPicPr>
          <p:cNvPr id="3" name="Picture 2" descr="09-conceptual-data-model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156" y="621792"/>
            <a:ext cx="6213382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09-conceptual-data-model.png |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09. Conceptual Data Model — Detail 2/4</a:t>
            </a:r>
          </a:p>
        </p:txBody>
      </p:sp>
      <p:pic>
        <p:nvPicPr>
          <p:cNvPr id="3" name="Picture 2" descr="09-conceptual-data-model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156" y="621792"/>
            <a:ext cx="6213382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09-conceptual-data-model.png |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09. Conceptual Data Model — Detail 3/4</a:t>
            </a:r>
          </a:p>
        </p:txBody>
      </p:sp>
      <p:pic>
        <p:nvPicPr>
          <p:cNvPr id="3" name="Picture 2" descr="09-conceptual-data-model-detail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758" y="621792"/>
            <a:ext cx="6208178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09-conceptual-data-model.png |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09. Conceptual Data Model — Detail 4/4</a:t>
            </a:r>
          </a:p>
        </p:txBody>
      </p:sp>
      <p:pic>
        <p:nvPicPr>
          <p:cNvPr id="3" name="Picture 2" descr="09-conceptual-data-model-detail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758" y="621792"/>
            <a:ext cx="6208178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09-conceptual-data-model.png |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10. Submit Bug and Notification Sequence — Overview</a:t>
            </a:r>
          </a:p>
        </p:txBody>
      </p:sp>
      <p:pic>
        <p:nvPicPr>
          <p:cNvPr id="3" name="Picture 2" descr="10-submit-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777" y="621792"/>
            <a:ext cx="10368141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10-submit-notification.png |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10. Submit Bug and Notification Sequence — Detail 1/2</a:t>
            </a:r>
          </a:p>
        </p:txBody>
      </p:sp>
      <p:pic>
        <p:nvPicPr>
          <p:cNvPr id="3" name="Picture 2" descr="10-submit-notification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829259"/>
            <a:ext cx="11606479" cy="35103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10-submit-notification.png |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10. Submit Bug and Notification Sequence — Detail 2/2</a:t>
            </a:r>
          </a:p>
        </p:txBody>
      </p:sp>
      <p:pic>
        <p:nvPicPr>
          <p:cNvPr id="3" name="Picture 2" descr="10-submit-notification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826674"/>
            <a:ext cx="11606479" cy="35155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10-submit-notification.png |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11. Developer Review Notification Sequence — Overview</a:t>
            </a:r>
          </a:p>
        </p:txBody>
      </p:sp>
      <p:pic>
        <p:nvPicPr>
          <p:cNvPr id="3" name="Picture 2" descr="11-developer-review-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63" y="621792"/>
            <a:ext cx="9436168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11-developer-review-notification.png |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11. Developer Review Notification Sequence — Detail 1/2</a:t>
            </a:r>
          </a:p>
        </p:txBody>
      </p:sp>
      <p:pic>
        <p:nvPicPr>
          <p:cNvPr id="3" name="Picture 2" descr="11-developer-review-notification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56526"/>
            <a:ext cx="11606479" cy="38558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11-developer-review-notification.png |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11. Developer Review Notification Sequence — Detail 2/2</a:t>
            </a:r>
          </a:p>
        </p:txBody>
      </p:sp>
      <p:pic>
        <p:nvPicPr>
          <p:cNvPr id="3" name="Picture 2" descr="11-developer-review-notification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54092"/>
            <a:ext cx="11606479" cy="3860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11-developer-review-notification.png |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12. PM Monitoring and Escalation Flow — Overview</a:t>
            </a:r>
          </a:p>
        </p:txBody>
      </p:sp>
      <p:pic>
        <p:nvPicPr>
          <p:cNvPr id="3" name="Picture 2" descr="12-pm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649" y="621792"/>
            <a:ext cx="5796397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12-pm-monitoring.png |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13. SRS System Context — Overview</a:t>
            </a:r>
          </a:p>
        </p:txBody>
      </p:sp>
      <p:pic>
        <p:nvPicPr>
          <p:cNvPr id="3" name="Picture 2" descr="13-srs-system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317975"/>
            <a:ext cx="11606479" cy="45329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13-srs-system-context.png |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14. Main Defect Tracking Flow — Overview</a:t>
            </a:r>
          </a:p>
        </p:txBody>
      </p:sp>
      <p:pic>
        <p:nvPicPr>
          <p:cNvPr id="3" name="Picture 2" descr="14-frs-main-defec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582" y="621792"/>
            <a:ext cx="3552530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14-frs-main-defect-flow.png |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14. Main Defect Tracking Flow — Detail 1/2</a:t>
            </a:r>
          </a:p>
        </p:txBody>
      </p:sp>
      <p:pic>
        <p:nvPicPr>
          <p:cNvPr id="3" name="Picture 2" descr="14-frs-main-defect-flow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850" y="621792"/>
            <a:ext cx="6707995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14-frs-main-defect-flow.png |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14. Main Defect Tracking Flow — Detail 2/2</a:t>
            </a:r>
          </a:p>
        </p:txBody>
      </p:sp>
      <p:pic>
        <p:nvPicPr>
          <p:cNvPr id="3" name="Picture 2" descr="14-frs-main-defect-flow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850" y="621792"/>
            <a:ext cx="6707995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14-frs-main-defect-flow.png |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15. Rejected Follow-up Flow — Overview</a:t>
            </a:r>
          </a:p>
        </p:txBody>
      </p:sp>
      <p:pic>
        <p:nvPicPr>
          <p:cNvPr id="3" name="Picture 2" descr="15-frs-rejected-follow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88" y="621792"/>
            <a:ext cx="10524519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15-frs-rejected-follow-up.png |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16. Status Lifecycle — Overview</a:t>
            </a:r>
          </a:p>
        </p:txBody>
      </p:sp>
      <p:pic>
        <p:nvPicPr>
          <p:cNvPr id="3" name="Picture 2" descr="16-frs-status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216" y="621792"/>
            <a:ext cx="8785262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16-frs-status-lifecycle.png |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17. Bug Creation and Assignment Activity Flow — Overview</a:t>
            </a:r>
          </a:p>
        </p:txBody>
      </p:sp>
      <p:pic>
        <p:nvPicPr>
          <p:cNvPr id="3" name="Picture 2" descr="17-frs-create-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940" y="621792"/>
            <a:ext cx="3459814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17-frs-create-assignment.png |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17. Bug Creation and Assignment Activity Flow — Detail 1/2</a:t>
            </a:r>
          </a:p>
        </p:txBody>
      </p:sp>
      <p:pic>
        <p:nvPicPr>
          <p:cNvPr id="3" name="Picture 2" descr="17-frs-create-assignment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902" y="621792"/>
            <a:ext cx="6531890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17-frs-create-assignment.png |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17. Bug Creation and Assignment Activity Flow — Detail 2/2</a:t>
            </a:r>
          </a:p>
        </p:txBody>
      </p:sp>
      <p:pic>
        <p:nvPicPr>
          <p:cNvPr id="3" name="Picture 2" descr="17-frs-create-assignment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902" y="621792"/>
            <a:ext cx="6531890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17-frs-create-assignment.png |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18. Developer Review Decision Flow — Overview</a:t>
            </a:r>
          </a:p>
        </p:txBody>
      </p:sp>
      <p:pic>
        <p:nvPicPr>
          <p:cNvPr id="3" name="Picture 2" descr="18-frs-develope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102" y="621792"/>
            <a:ext cx="5009490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18-frs-developer-review.png |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19. Request More Information Flow — Overview</a:t>
            </a:r>
          </a:p>
        </p:txBody>
      </p:sp>
      <p:pic>
        <p:nvPicPr>
          <p:cNvPr id="3" name="Picture 2" descr="19-frs-request-more-in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866" y="621792"/>
            <a:ext cx="8117963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19-frs-request-more-information.png |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20. Resolve, Retest, Close, and Reopen Flow — Overview</a:t>
            </a:r>
          </a:p>
        </p:txBody>
      </p:sp>
      <p:pic>
        <p:nvPicPr>
          <p:cNvPr id="3" name="Picture 2" descr="20-frs-resolve-retest-close-re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373" y="621792"/>
            <a:ext cx="2796948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20-frs-resolve-retest-close-reopen.png |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20. Resolve, Retest, Close, and Reopen Flow — Detail 1/2</a:t>
            </a:r>
          </a:p>
        </p:txBody>
      </p:sp>
      <p:pic>
        <p:nvPicPr>
          <p:cNvPr id="3" name="Picture 2" descr="20-frs-resolve-retest-close-reopen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528" y="621792"/>
            <a:ext cx="5280638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20-frs-resolve-retest-close-reopen.png |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20. Resolve, Retest, Close, and Reopen Flow — Detail 2/2</a:t>
            </a:r>
          </a:p>
        </p:txBody>
      </p:sp>
      <p:pic>
        <p:nvPicPr>
          <p:cNvPr id="3" name="Picture 2" descr="20-frs-resolve-retest-close-reopen-detail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528" y="621792"/>
            <a:ext cx="5280638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20-frs-resolve-retest-close-reopen.png |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73152"/>
            <a:ext cx="1160647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93F72"/>
                </a:solidFill>
                <a:latin typeface="Aptos Display"/>
              </a:rPr>
              <a:t>21. PM Monitoring and Escalation Flow — Overview</a:t>
            </a:r>
          </a:p>
        </p:txBody>
      </p:sp>
      <p:pic>
        <p:nvPicPr>
          <p:cNvPr id="3" name="Picture 2" descr="21-frs-pm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647" y="621792"/>
            <a:ext cx="5208401" cy="592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" y="6601968"/>
            <a:ext cx="11606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A6473"/>
                </a:solidFill>
                <a:latin typeface="Aptos"/>
              </a:rPr>
              <a:t>IDTS SAP01 | Source asset: 21-frs-pm-monitoring.png | Slide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IDTS SAP01 Diagram Pack</dc:title>
  <dc:subject>SAP490 mentor review - current canonical diagrams</dc:subject>
  <dc:creator>IDTS SAP01 Project Team</dc:creator>
  <cp:keywords/>
  <dc:description>Generated from docs/diagrams/rendered/png; overview and detail slides use the same final assets.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